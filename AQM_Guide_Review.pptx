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731520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508760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286000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3063240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3840480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617720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</a:rPr>
              <a:t>ADAPTIVE QUEUE MANAGEMENT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0584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Design of an Adaptive Controller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Based on Active Queue Management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 TCP/IP Flows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32004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71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K. Vishnu Vardhan (24MECP01)  •  M.Tech Power &amp; Control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PDPM IIITDM Jabalpur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Guides: Dr. Prabin Kumar Padhy  |  Dr. Sachin Kumar Jain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1920240" cy="914400"/>
          </a:xfrm>
          <a:prstGeom prst="rect">
            <a:avLst/>
          </a:prstGeom>
          <a:solidFill>
            <a:srgbClr val="1122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977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12.3×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4407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RMSE Improvement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06040" y="3931920"/>
            <a:ext cx="1920240" cy="914400"/>
          </a:xfrm>
          <a:prstGeom prst="rect">
            <a:avLst/>
          </a:prstGeom>
          <a:solidFill>
            <a:srgbClr val="1122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06040" y="3977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141ms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606040" y="4407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ITU-T G.114 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3931920"/>
            <a:ext cx="1920240" cy="914400"/>
          </a:xfrm>
          <a:prstGeom prst="rect">
            <a:avLst/>
          </a:prstGeom>
          <a:solidFill>
            <a:srgbClr val="1122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3977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1.938%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54880" y="4407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Packet Loss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03720" y="3931920"/>
            <a:ext cx="1920240" cy="914400"/>
          </a:xfrm>
          <a:prstGeom prst="rect">
            <a:avLst/>
          </a:prstGeom>
          <a:solidFill>
            <a:srgbClr val="1122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03720" y="3977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95.6%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03720" y="4407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Link Utilization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4846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466"/>
                </a:solidFill>
              </a:rPr>
              <a:t>Guide Review — March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PRESENTATION OUTLINE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411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229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84124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Research Motivation &amp; Problem Statement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353312"/>
            <a:ext cx="41148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35331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13716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Traffic Model — How Ours Differs from Literature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1883664"/>
            <a:ext cx="4114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88366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19019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System 1: PHAQM — Architecture &amp; Results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8600" y="2414016"/>
            <a:ext cx="41148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41401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43230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System 2: Hybrid MPC+PID+RLS — Architecture &amp; Results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" y="2944368"/>
            <a:ext cx="411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94436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2962656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Head-to-Head Comparison: Original vs IEEE Topology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28600" y="3474720"/>
            <a:ext cx="41148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4747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349300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FlowMonitor QoS &amp; ITU-T Standard Compliance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28600" y="4005072"/>
            <a:ext cx="4114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400507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" y="402336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Comparison with Related Work (2 papers)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28600" y="4535424"/>
            <a:ext cx="41148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453542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" y="45537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Conclusion — Why Hybrid MPC Wins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RESEARCH MOTIVATION &amp; PROBLEM STATEMENT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Internet routers drop packets randomly (tail-drop) → TCP collapse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AQM algorithms (RED, PI, GPC) are parameter-sensitive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PHAQM Hebbian weight update collapses under heterogeneous traffic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No existing work validates against ITU-T latency &amp; loss standards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No NS-3 real-packet validation — only fluid-flow MATLAB models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82296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822960"/>
            <a:ext cx="402336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22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OUR SOLUTION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3258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Hybrid MPC + PID + RLS controller for TCP/IP AQM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RLS online self-tuning — adapts to heterogeneous traffic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Tested on NS-3.45 with 200 real mixed TCP + UDP flows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3-tier RTT topology: 5ms / 20ms / 50ms + 50ms backbone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Validated against ITU-T G.114 &amp; Y.1541 QoS standards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5-run statistical validation with Wireshark pcap evidence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TRAFFIC MODEL — HOW OURS DIFFERS FROM LITERATURE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196596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777240"/>
            <a:ext cx="1965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Aspect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48840" y="777240"/>
            <a:ext cx="1965960" cy="4572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777240"/>
            <a:ext cx="1965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PHAQM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[Xu 2020]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60520" y="777240"/>
            <a:ext cx="178308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777240"/>
            <a:ext cx="1783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FOTID+SOA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[Abood 2022]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89320" y="777240"/>
            <a:ext cx="1783080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777240"/>
            <a:ext cx="1783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PI / GPC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[Classical]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818120" y="777240"/>
            <a:ext cx="13258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777240"/>
            <a:ext cx="13258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Our Work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[Hybrid MPC]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37160" y="1280160"/>
            <a:ext cx="19659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12984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Simulator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48840" y="1280160"/>
            <a:ext cx="19659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12984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NS-2/MATLAB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60520" y="1280160"/>
            <a:ext cx="178308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12984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MATLAB only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89320" y="1280160"/>
            <a:ext cx="178308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2984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MATLAB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818120" y="1280160"/>
            <a:ext cx="1325880" cy="448056"/>
          </a:xfrm>
          <a:prstGeom prst="rect">
            <a:avLst/>
          </a:prstGeom>
          <a:solidFill>
            <a:srgbClr val="E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12984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NS-3.45 ✓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" y="1755648"/>
            <a:ext cx="196596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177393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Traffic Type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48840" y="1755648"/>
            <a:ext cx="196596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4560" y="177393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TCP only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(homogeneous)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60520" y="1755648"/>
            <a:ext cx="178308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177393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TCP fluid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model only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89320" y="1755648"/>
            <a:ext cx="178308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177393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TCP only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818120" y="1755648"/>
            <a:ext cx="1325880" cy="448056"/>
          </a:xfrm>
          <a:prstGeom prst="rect">
            <a:avLst/>
          </a:prstGeom>
          <a:solidFill>
            <a:srgbClr val="E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0" y="177393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TCP + UDP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mixed ✓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37160" y="2231136"/>
            <a:ext cx="19659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224942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No. of Flows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148840" y="2231136"/>
            <a:ext cx="19659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94560" y="224942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N=500 TCP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all same RTT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60520" y="2231136"/>
            <a:ext cx="178308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0" y="224942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N=60 TCP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all same RTT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989320" y="2231136"/>
            <a:ext cx="178308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224942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N=500 fixed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818120" y="2231136"/>
            <a:ext cx="1325880" cy="448056"/>
          </a:xfrm>
          <a:prstGeom prst="rect">
            <a:avLst/>
          </a:prstGeom>
          <a:solidFill>
            <a:srgbClr val="E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63840" y="224942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200 flows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3 RTT tiers ✓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37160" y="2706624"/>
            <a:ext cx="196596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2880" y="27249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RTT Model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148840" y="2706624"/>
            <a:ext cx="196596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94560" y="27249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Fixed 100ms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for all flows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60520" y="2706624"/>
            <a:ext cx="178308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06240" y="272491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Fixed R₀=0.253s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for all flows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989320" y="2706624"/>
            <a:ext cx="178308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35040" y="272491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Fixed RTT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818120" y="2706624"/>
            <a:ext cx="1325880" cy="448056"/>
          </a:xfrm>
          <a:prstGeom prst="rect">
            <a:avLst/>
          </a:prstGeom>
          <a:solidFill>
            <a:srgbClr val="E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63840" y="272491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5/20/50ms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access + 50ms BB ✓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37160" y="3182112"/>
            <a:ext cx="19659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2880" y="3200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Simulator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148840" y="3182112"/>
            <a:ext cx="19659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94560" y="3200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Single run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no stats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160520" y="3182112"/>
            <a:ext cx="178308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06240" y="3200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Single run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no stats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989320" y="3182112"/>
            <a:ext cx="178308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35040" y="3200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Single run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18120" y="3182112"/>
            <a:ext cx="1325880" cy="448056"/>
          </a:xfrm>
          <a:prstGeom prst="rect">
            <a:avLst/>
          </a:prstGeom>
          <a:solidFill>
            <a:srgbClr val="E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63840" y="3200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5 independent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runs ✓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37160" y="3657600"/>
            <a:ext cx="196596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82880" y="36758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QoS Measured?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148840" y="3657600"/>
            <a:ext cx="196596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194560" y="36758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❌ None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60520" y="3657600"/>
            <a:ext cx="178308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06240" y="36758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❌ None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989320" y="3657600"/>
            <a:ext cx="178308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35040" y="36758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❌ None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818120" y="3657600"/>
            <a:ext cx="1325880" cy="448056"/>
          </a:xfrm>
          <a:prstGeom prst="rect">
            <a:avLst/>
          </a:prstGeom>
          <a:solidFill>
            <a:srgbClr val="E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863840" y="367588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✅ Latency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Loss Throughput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37160" y="4133088"/>
            <a:ext cx="19659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82880" y="415137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ITU-T Check?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148840" y="4133088"/>
            <a:ext cx="19659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194560" y="415137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❌ No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160520" y="4133088"/>
            <a:ext cx="178308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206240" y="415137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❌ No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989320" y="4133088"/>
            <a:ext cx="178308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035040" y="415137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❌ No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818120" y="4133088"/>
            <a:ext cx="1325880" cy="448056"/>
          </a:xfrm>
          <a:prstGeom prst="rect">
            <a:avLst/>
          </a:prstGeom>
          <a:solidFill>
            <a:srgbClr val="E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863840" y="415137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✅ G.114 + Y.1541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37160" y="4608576"/>
            <a:ext cx="196596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82880" y="462686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Wireshark?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2148840" y="4608576"/>
            <a:ext cx="196596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194560" y="462686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❌ No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160520" y="4608576"/>
            <a:ext cx="178308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206240" y="462686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❌ No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5989320" y="4608576"/>
            <a:ext cx="178308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035040" y="462686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❌ No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7818120" y="4608576"/>
            <a:ext cx="1325880" cy="448056"/>
          </a:xfrm>
          <a:prstGeom prst="rect">
            <a:avLst/>
          </a:prstGeom>
          <a:solidFill>
            <a:srgbClr val="E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863840" y="462686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✅ pcap analysis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137160" y="4754880"/>
            <a:ext cx="886968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★ Key Insight: Our work is the ONLY study using NS-3 real-packet simulation with heterogeneous mixed traffic and ITU-T QoS validation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137160" y="4736592"/>
            <a:ext cx="88696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28600" y="473659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★  Our work is the ONLY study using NS-3 real-packet simulation with heterogeneous mixed traffic and ITU-T QoS 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SYSTEM 1: PHAQM — Architecture &amp; Control Flow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914400"/>
            <a:ext cx="128016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" y="93268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TCP/UDP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Sources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" y="1257300"/>
            <a:ext cx="12801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200 flows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3 RTT tiers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417320" y="1257300"/>
            <a:ext cx="41148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0515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packets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0" y="868680"/>
            <a:ext cx="1645920" cy="777240"/>
          </a:xfrm>
          <a:prstGeom prst="rect">
            <a:avLst/>
          </a:prstGeom>
          <a:solidFill>
            <a:srgbClr val="1D4ED8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28800" y="886968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Router Buffer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1257300"/>
            <a:ext cx="164592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1000 pkt cap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45 Mbps link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51760" y="1645920"/>
            <a:ext cx="0" cy="64008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16642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measured q(t)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03120" y="2286000"/>
            <a:ext cx="1097280" cy="548640"/>
          </a:xfrm>
          <a:prstGeom prst="rect">
            <a:avLst/>
          </a:prstGeom>
          <a:solidFill>
            <a:srgbClr val="374151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03120" y="23042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Error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256032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e = q - q₀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q₀ = 500 pkts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2834640"/>
            <a:ext cx="0" cy="45720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54480" y="3291840"/>
            <a:ext cx="2194560" cy="822960"/>
          </a:xfrm>
          <a:prstGeom prst="rect">
            <a:avLst/>
          </a:prstGeom>
          <a:solidFill>
            <a:srgbClr val="065F46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554480" y="331012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MPC Predictor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54480" y="3703320"/>
            <a:ext cx="21945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d-step ahead prediction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Diophantine eq. (GPC)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0" y="3291840"/>
            <a:ext cx="2194560" cy="822960"/>
          </a:xfrm>
          <a:prstGeom prst="rect">
            <a:avLst/>
          </a:prstGeom>
          <a:solidFill>
            <a:srgbClr val="78350F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0" y="331012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Hebbian Adapter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3703320"/>
            <a:ext cx="21945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wᵢ(t) = wᵢ(t-1) + η·e·xᵢ·u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17 adaptive weights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749040" y="3703320"/>
            <a:ext cx="82296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3520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u_MPC(t)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0" y="2286000"/>
            <a:ext cx="21945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0" y="23042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Control Output u(t)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2628900"/>
            <a:ext cx="21945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drop probability p ∈ [0,1]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69280" y="3291840"/>
            <a:ext cx="0" cy="-32004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29992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adapted u(t)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669280" y="2286000"/>
            <a:ext cx="0" cy="-64008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0" y="1645920"/>
            <a:ext cx="-219456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0" y="1463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drop signal back to router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474720" y="1645920"/>
            <a:ext cx="0" cy="-38862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0" y="1257300"/>
            <a:ext cx="338328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0" y="914400"/>
            <a:ext cx="13716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858000" y="9326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Destination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0" y="1257300"/>
            <a:ext cx="13716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TCP receivers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206240" y="3200400"/>
            <a:ext cx="2926080" cy="1005840"/>
          </a:xfrm>
          <a:prstGeom prst="rect">
            <a:avLst/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51960" y="32186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⚠ FAILURE POINT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251960" y="3474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1B1B"/>
                </a:solidFill>
              </a:rPr>
              <a:t>When u→0, Δwᵢ = η·e·xᵢ·u → 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91B1B"/>
                </a:solidFill>
              </a:rPr>
              <a:t>Weights freeze → queue saturates permanently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37160" y="4709160"/>
            <a:ext cx="88696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472744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PHAQM = MPC (GPC-based) + Hebbian adaptive weights  |  17 weights, fixed learning rates η  |  Designed for homogeneous TCP only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SYSTEM 1: PHAQM — Simulation Results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8778240" cy="45720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77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CRITICAL FAILURE UNDER HETEROGENEOUS TRAFFIC  —  Buffer Permanently Saturated at 984 packets (original topology)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2057400" cy="118872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13716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</a:rPr>
              <a:t>695 pkts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Mean Queue (5 runs)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21762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IEEE topology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77440" y="1325880"/>
            <a:ext cx="2057400" cy="118872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77440" y="13716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</a:rPr>
              <a:t>200±264 pkts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23160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Queue RMSE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23160" y="21762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massive variance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0" y="1325880"/>
            <a:ext cx="2057400" cy="118872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3716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</a:rPr>
              <a:t>199.1 pkts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17720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Queue MAE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17720" y="21762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vs target 500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66560" y="1325880"/>
            <a:ext cx="2057400" cy="118872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13716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</a:rPr>
              <a:t>±264 pkts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12280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RMSE Std Dev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12280" y="21762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highly unstable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82880" y="26334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FlowMonitor QoS — IEEE Topology (Run 1)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" y="3017520"/>
            <a:ext cx="256032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3017520"/>
            <a:ext cx="1645920" cy="29260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30358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Flows Analyzed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88920" y="30358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380 / 380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2880" y="3328416"/>
            <a:ext cx="2560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0" y="3328416"/>
            <a:ext cx="1645920" cy="292608"/>
          </a:xfrm>
          <a:prstGeom prst="rect">
            <a:avLst/>
          </a:prstGeom>
          <a:solidFill>
            <a:srgbClr val="FFF7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3467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Avg Delay (Latency)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88920" y="33467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174.35 ms  ❌  (&gt; 150ms limit)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82880" y="3639312"/>
            <a:ext cx="256032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3639312"/>
            <a:ext cx="1645920" cy="29260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657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P95 Delay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88920" y="3657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353.64 ms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82880" y="3950208"/>
            <a:ext cx="2560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0" y="3950208"/>
            <a:ext cx="1645920" cy="292608"/>
          </a:xfrm>
          <a:prstGeom prst="rect">
            <a:avLst/>
          </a:prstGeom>
          <a:solidFill>
            <a:srgbClr val="FFF7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" y="39684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Avg Packet Loss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788920" y="39684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3.544%  ❌  (&gt; 3% Class 3 limit)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82880" y="4261104"/>
            <a:ext cx="256032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0" y="4261104"/>
            <a:ext cx="1645920" cy="29260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Max Packet Loss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788920" y="42793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27.465%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82880" y="4572000"/>
            <a:ext cx="2560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0" y="4572000"/>
            <a:ext cx="1645920" cy="292608"/>
          </a:xfrm>
          <a:prstGeom prst="rect">
            <a:avLst/>
          </a:prstGeom>
          <a:solidFill>
            <a:srgbClr val="FFF7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4590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Total Throughput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788920" y="4590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108.19 Mbps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82880" y="4882896"/>
            <a:ext cx="256032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0" y="4882896"/>
            <a:ext cx="1645920" cy="29260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" y="49011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Link Utilization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788920" y="49011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~97.8%  (Wireshark)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0" y="2633472"/>
            <a:ext cx="43891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663440" y="2679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Wireshark Evidence (Original 100ms Topology)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663440" y="3035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Total Packets: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675120" y="3035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193,930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663440" y="3364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Avg Throughput: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675120" y="3364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7.2 Mbps (16% util)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663440" y="36941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Total Data Delivered: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675120" y="36941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104.7 MB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663440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Active Transmission: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675120" y="4023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t=0–25s only (then ZERO)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663440" y="43525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TCP Starvation: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675120" y="43525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95 seconds of zero traffic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617720" y="4297680"/>
            <a:ext cx="429768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63440" y="4297680"/>
            <a:ext cx="42062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1B1B"/>
                </a:solidFill>
              </a:rPr>
              <a:t>Root Cause: Hebbian collapse → u≈0 → weights freeze → queue fills to 984 pkts → TCP starvation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SYSTEM 2: Hybrid MPC+PID+RLS — Architecture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960120"/>
            <a:ext cx="118872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" y="987552"/>
            <a:ext cx="11887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TCP/UDP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Sources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1440" y="1292962"/>
            <a:ext cx="11887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200 flows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3 RTT tiers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280160" y="1280160"/>
            <a:ext cx="36576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868680"/>
            <a:ext cx="1371600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0" y="896112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Router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Buffer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45920" y="1296619"/>
            <a:ext cx="13716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q(t): 0-1000 pkts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45Mbps/50ms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31720" y="1691640"/>
            <a:ext cx="0" cy="45720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17373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q(t)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03120" y="21488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 = q - qRef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qRef = 500 pkts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31720" y="2606040"/>
            <a:ext cx="0" cy="36576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2971800"/>
            <a:ext cx="137160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71600" y="2999232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PID Controller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71600" y="3399739"/>
            <a:ext cx="13716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Kp=0.30 Ki=0.50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Kd=0.008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43200" y="3291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u_PID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0" y="3383280"/>
            <a:ext cx="45720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2286000"/>
            <a:ext cx="1645920" cy="777240"/>
          </a:xfrm>
          <a:prstGeom prst="rect">
            <a:avLst/>
          </a:prstGeom>
          <a:solidFill>
            <a:srgbClr val="065F46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0" y="2313432"/>
            <a:ext cx="164592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MPC Predictor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0" y="2690165"/>
            <a:ext cx="164592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N=20 horizon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Ts=0.01s R=0.1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331720" y="2606040"/>
            <a:ext cx="86868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2679192"/>
            <a:ext cx="0" cy="36576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3108960"/>
            <a:ext cx="1645920" cy="777240"/>
          </a:xfrm>
          <a:prstGeom prst="rect">
            <a:avLst/>
          </a:prstGeom>
          <a:solidFill>
            <a:srgbClr val="92400E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00400" y="3136392"/>
            <a:ext cx="164592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RLS Estimator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00400" y="3513125"/>
            <a:ext cx="164592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λ=0.99 P=100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â clamped [0.80,0.9999]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0" y="3502152"/>
            <a:ext cx="0" cy="-438912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29260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model update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1089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+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846320" y="3337560"/>
            <a:ext cx="27432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0" y="3383280"/>
            <a:ext cx="9144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52160" y="3017520"/>
            <a:ext cx="164592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852160" y="3044952"/>
            <a:ext cx="1645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Drop Probability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52160" y="3350362"/>
            <a:ext cx="16459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p = α·p + (1-α)·u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PIE smoothing α=0.9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577840" y="3337560"/>
            <a:ext cx="27432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0" y="3337560"/>
            <a:ext cx="50292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01000" y="1280160"/>
            <a:ext cx="0" cy="205740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17520" y="1280160"/>
            <a:ext cx="498348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17520" y="1280160"/>
            <a:ext cx="0" cy="-4572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89520" y="960120"/>
            <a:ext cx="1371600" cy="640080"/>
          </a:xfrm>
          <a:prstGeom prst="rect">
            <a:avLst/>
          </a:prstGeom>
          <a:solidFill>
            <a:srgbClr val="374151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589520" y="987552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Destination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589520" y="1292962"/>
            <a:ext cx="137160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TCP receivers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017520" y="1280160"/>
            <a:ext cx="457200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440" y="4069080"/>
            <a:ext cx="8961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82880" y="40965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Controller Parameters &amp; Key Design Decisions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82880" y="437083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Kp=0.30  Ki=0.50  Kd=0.008  Km=0.00  |  qRef=500 pkts  |  Ts=0.01s  |  Horizon N=20  |  Weight R=0.1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82880" y="459943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RLS: λ=0.99  P₀=100  b fixed=-0.002  â ∈ [0.80, 0.9999]  |  PIE smoothing α=0.9  |  Anti-windup: skip integral when q &lt; 0.30×qRef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82880" y="482803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Cold-start protection  |  Non-zero control always guaranteed  |  Self-tuning (no offline optimization needed)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SYSTEM 2: Hybrid MPC+PID+RLS — Simulation Results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011680" cy="1097280"/>
          </a:xfrm>
          <a:prstGeom prst="rect">
            <a:avLst/>
          </a:prstGeom>
          <a:solidFill>
            <a:srgbClr val="ECFDF5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822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499 pkts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" y="13533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Mean Queue (5 runs)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6093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= 500 ✓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77440" y="777240"/>
            <a:ext cx="2011680" cy="1097280"/>
          </a:xfrm>
          <a:prstGeom prst="rect">
            <a:avLst/>
          </a:prstGeom>
          <a:solidFill>
            <a:srgbClr val="ECFDF5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77440" y="822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16.3±1.9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23160" y="13533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Queue RMSE (pkts)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23160" y="16093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Extremely consistent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0" y="777240"/>
            <a:ext cx="2011680" cy="1097280"/>
          </a:xfrm>
          <a:prstGeom prst="rect">
            <a:avLst/>
          </a:prstGeom>
          <a:solidFill>
            <a:srgbClr val="ECFDF5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822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33.6 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17720" y="13533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Settling Time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17720" y="16093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Stable thereafter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66560" y="777240"/>
            <a:ext cx="2011680" cy="1097280"/>
          </a:xfrm>
          <a:prstGeom prst="rect">
            <a:avLst/>
          </a:prstGeom>
          <a:solidFill>
            <a:srgbClr val="ECFDF5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822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~1.4%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12280" y="13533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Overshoot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12280" y="16093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Near perfect tracking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82880" y="2011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FlowMonitor QoS — IEEE Topology (Run 1)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" y="2377440"/>
            <a:ext cx="256032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2377440"/>
            <a:ext cx="1828800" cy="29260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2395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Flows Analyzed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88920" y="2395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380 / 380  ✅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2880" y="2688336"/>
            <a:ext cx="2560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0" y="2688336"/>
            <a:ext cx="1828800" cy="292608"/>
          </a:xfrm>
          <a:prstGeom prst="rect">
            <a:avLst/>
          </a:prstGeom>
          <a:solidFill>
            <a:srgbClr val="F0FF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27066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Avg Delay (Latency)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88920" y="27066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141.48 ms  ✅  (&lt; 150ms limit)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82880" y="2999232"/>
            <a:ext cx="256032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0" y="2999232"/>
            <a:ext cx="1828800" cy="29260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3017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Min Delay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88920" y="30175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60.02 ms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82880" y="3310128"/>
            <a:ext cx="2560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0" y="3310128"/>
            <a:ext cx="1828800" cy="292608"/>
          </a:xfrm>
          <a:prstGeom prst="rect">
            <a:avLst/>
          </a:prstGeom>
          <a:solidFill>
            <a:srgbClr val="F0FF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33284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P95 Delay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88920" y="33284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261.22 ms  ✅  (&lt; 400ms)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82880" y="3621024"/>
            <a:ext cx="256032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0" y="3621024"/>
            <a:ext cx="1828800" cy="29260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36393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Avg Packet Loss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788920" y="36393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1.938%  ✅  (&lt; 3% Class 3)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82880" y="3931920"/>
            <a:ext cx="2560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0" y="3931920"/>
            <a:ext cx="1828800" cy="292608"/>
          </a:xfrm>
          <a:prstGeom prst="rect">
            <a:avLst/>
          </a:prstGeom>
          <a:solidFill>
            <a:srgbClr val="F0FF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" y="3950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Max Packet Loss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788920" y="3950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17.037%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82880" y="4242816"/>
            <a:ext cx="256032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0" y="4242816"/>
            <a:ext cx="1828800" cy="29260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42611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Total Throughput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788920" y="42611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112.93 Mbps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54880" y="2011680"/>
            <a:ext cx="4206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846320" y="2057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Wireshark + Multi-Run Validation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846320" y="2404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Total Packets (IEEE):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858000" y="2404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814,422  ✅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846320" y="27340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Avg Throughput: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858000" y="27340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44 Mbps (97.8% util)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84632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Settling Time: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858000" y="3063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33.6 seconds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846320" y="3392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Queue σ (5 runs):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858000" y="3392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16.3 pkts — very stable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846320" y="3721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Mean offset from 500: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858000" y="3721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-0.9 pkts — near perfect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800600" y="4114800"/>
            <a:ext cx="4114800" cy="868680"/>
          </a:xfrm>
          <a:prstGeom prst="rect">
            <a:avLst/>
          </a:prstGeom>
          <a:solidFill>
            <a:srgbClr val="ECFDF5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92040" y="41330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ITU-T Compliance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892040" y="43891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5F46"/>
                </a:solidFill>
              </a:rPr>
              <a:t>G.114 Class 1: 141ms ≤ 150ms  ✅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65F46"/>
                </a:solidFill>
              </a:rPr>
              <a:t>Y.1541 Class 3: 1.938% ≤ 3%  ✅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COMPARISON — Original Topology (100ms Backbone)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88696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58952"/>
            <a:ext cx="8778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Topology: Dumbbell  |  Bottleneck: 45Mbps + 100ms delay  |  Access delays: 10ms / 50ms / 150ms  |  200 flows (120 BulkTCP + 60 WebTCP + 20 UDP)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7160" y="1143000"/>
            <a:ext cx="269748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11430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Metric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80360" y="1143000"/>
            <a:ext cx="2240280" cy="4114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1143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PHAQM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66360" y="1143000"/>
            <a:ext cx="2514600" cy="4114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11430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Hybrid MPC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26680" y="1143000"/>
            <a:ext cx="10515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6680" y="11430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Winner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" y="1600200"/>
            <a:ext cx="2697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161848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Mean Queue (5 runs)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80360" y="1600200"/>
            <a:ext cx="2240280" cy="36576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161848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492 pkts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66360" y="1600200"/>
            <a:ext cx="2514600" cy="36576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6184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499 pkts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26680" y="1600200"/>
            <a:ext cx="1051560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161848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≈ Equal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7160" y="1984248"/>
            <a:ext cx="26974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200253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Queue RMSE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880360" y="1984248"/>
            <a:ext cx="2240280" cy="365760"/>
          </a:xfrm>
          <a:prstGeom prst="rect">
            <a:avLst/>
          </a:prstGeom>
          <a:solidFill>
            <a:srgbClr val="FFF5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200253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396 ± 214 pkts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66360" y="1984248"/>
            <a:ext cx="2514600" cy="365760"/>
          </a:xfrm>
          <a:prstGeom prst="rect">
            <a:avLst/>
          </a:prstGeom>
          <a:solidFill>
            <a:srgbClr val="F0FF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200253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24 ± 2.5 pkts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26680" y="1984248"/>
            <a:ext cx="1051560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20025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MPC  16×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37160" y="2368296"/>
            <a:ext cx="2697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" y="238658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Queue MAE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80360" y="2368296"/>
            <a:ext cx="2240280" cy="36576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0" y="238658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395.5 pkts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66360" y="2368296"/>
            <a:ext cx="2514600" cy="36576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238658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18.8 pkts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26680" y="2368296"/>
            <a:ext cx="1051560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0" y="238658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MPC  21×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37160" y="2752344"/>
            <a:ext cx="26974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" y="277063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Settling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880360" y="2752344"/>
            <a:ext cx="2240280" cy="365760"/>
          </a:xfrm>
          <a:prstGeom prst="rect">
            <a:avLst/>
          </a:prstGeom>
          <a:solidFill>
            <a:srgbClr val="FFF5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26080" y="27706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Never settles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166360" y="2752344"/>
            <a:ext cx="2514600" cy="365760"/>
          </a:xfrm>
          <a:prstGeom prst="rect">
            <a:avLst/>
          </a:prstGeom>
          <a:solidFill>
            <a:srgbClr val="F0FF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277063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33.6 seconds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726680" y="2752344"/>
            <a:ext cx="1051560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0" y="277063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MPC only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37160" y="3136392"/>
            <a:ext cx="2697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" y="315468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Total Packets (pcap)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880360" y="3136392"/>
            <a:ext cx="2240280" cy="36576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26080" y="315468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193,930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166360" y="3136392"/>
            <a:ext cx="2514600" cy="36576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12080" y="31546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787,120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26680" y="3136392"/>
            <a:ext cx="1051560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0" y="315468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MPC  4×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37160" y="3520440"/>
            <a:ext cx="26974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2880" y="353872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Avg Throughput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880360" y="3520440"/>
            <a:ext cx="2240280" cy="365760"/>
          </a:xfrm>
          <a:prstGeom prst="rect">
            <a:avLst/>
          </a:prstGeom>
          <a:solidFill>
            <a:srgbClr val="FFF5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26080" y="353872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7.2 Mbps (16%)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166360" y="3520440"/>
            <a:ext cx="2514600" cy="365760"/>
          </a:xfrm>
          <a:prstGeom prst="rect">
            <a:avLst/>
          </a:prstGeom>
          <a:solidFill>
            <a:srgbClr val="F0FF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12080" y="353872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43 Mbps (95.6%)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726680" y="3520440"/>
            <a:ext cx="1051560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72400" y="35387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MPC  6×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37160" y="3904488"/>
            <a:ext cx="2697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82880" y="392277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Total Data Delivered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880360" y="3904488"/>
            <a:ext cx="2240280" cy="36576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26080" y="392277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104.7 MB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166360" y="3904488"/>
            <a:ext cx="2514600" cy="36576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212080" y="392277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654.1 MB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726680" y="3904488"/>
            <a:ext cx="1051560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72400" y="392277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MPC  6.25×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137160" y="4288536"/>
            <a:ext cx="26974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82880" y="430682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I/O Graph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880360" y="4288536"/>
            <a:ext cx="2240280" cy="365760"/>
          </a:xfrm>
          <a:prstGeom prst="rect">
            <a:avLst/>
          </a:prstGeom>
          <a:solidFill>
            <a:srgbClr val="FFF5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26080" y="430682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Traffic stops t&gt;25s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166360" y="4288536"/>
            <a:ext cx="2514600" cy="365760"/>
          </a:xfrm>
          <a:prstGeom prst="rect">
            <a:avLst/>
          </a:prstGeom>
          <a:solidFill>
            <a:srgbClr val="F0FF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212080" y="430682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Sustained 120s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726680" y="4288536"/>
            <a:ext cx="1051560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772400" y="430682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MPC only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137160" y="4718304"/>
            <a:ext cx="88696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82880" y="471830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Key Finding: Under original topology, PHAQM suffers complete TCP starvation — active only t=0–25s then ZERO traffic for 95 seconds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COMPARISON — IEEE/ITU-T Topology (50ms Backbone) ← Paper Results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886968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58952"/>
            <a:ext cx="8778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IEEE 802.3/802.1 compliant  |  Bottleneck: 45Mbps + 50ms (ITU-T G.114 national backbone)  |  Access: 5ms LAN / 20ms Metro / 50ms WAN-edge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7160" y="1143000"/>
            <a:ext cx="269748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11430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Metric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80360" y="1143000"/>
            <a:ext cx="2103120" cy="4114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1143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PHAQM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1143000"/>
            <a:ext cx="2377440" cy="4114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143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Hybrid MPC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52360" y="1143000"/>
            <a:ext cx="13258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11430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Standard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" y="1600200"/>
            <a:ext cx="26974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" y="1609344"/>
            <a:ext cx="26334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Mean Queue (5 runs)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80360" y="1600200"/>
            <a:ext cx="2103120" cy="28346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16936" y="1609344"/>
            <a:ext cx="20391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695 pkts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0" y="1600200"/>
            <a:ext cx="2377440" cy="28346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1609344"/>
            <a:ext cx="2313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499 pkts ✅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52360" y="1600200"/>
            <a:ext cx="1325880" cy="283464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88936" y="1609344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500 (target)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7160" y="1901952"/>
            <a:ext cx="2697480" cy="2834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" y="1911096"/>
            <a:ext cx="26334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Queue RMSE (5 runs)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880360" y="1901952"/>
            <a:ext cx="2103120" cy="283464"/>
          </a:xfrm>
          <a:prstGeom prst="rect">
            <a:avLst/>
          </a:prstGeom>
          <a:solidFill>
            <a:srgbClr val="FFF5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16936" y="1911096"/>
            <a:ext cx="20391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200 ± 264 pkts ❌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0" y="1901952"/>
            <a:ext cx="2377440" cy="283464"/>
          </a:xfrm>
          <a:prstGeom prst="rect">
            <a:avLst/>
          </a:prstGeom>
          <a:solidFill>
            <a:srgbClr val="F0FF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65776" y="1911096"/>
            <a:ext cx="2313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16.3 ± 1.9 pkts 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52360" y="1901952"/>
            <a:ext cx="1325880" cy="283464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88936" y="1911096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minimize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7160" y="2203704"/>
            <a:ext cx="26974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736" y="2212848"/>
            <a:ext cx="26334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Improvement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880360" y="2203704"/>
            <a:ext cx="2103120" cy="28346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16936" y="2212848"/>
            <a:ext cx="20391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—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0" y="2203704"/>
            <a:ext cx="2377440" cy="28346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65776" y="2212848"/>
            <a:ext cx="2313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12.3× better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452360" y="2203704"/>
            <a:ext cx="1325880" cy="283464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88936" y="2212848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—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37160" y="2505456"/>
            <a:ext cx="2697480" cy="2834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2514600"/>
            <a:ext cx="26334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Avg Latency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880360" y="2505456"/>
            <a:ext cx="2103120" cy="283464"/>
          </a:xfrm>
          <a:prstGeom prst="rect">
            <a:avLst/>
          </a:prstGeom>
          <a:solidFill>
            <a:srgbClr val="FFF5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16936" y="2514600"/>
            <a:ext cx="20391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174.35 ms ❌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0" y="2505456"/>
            <a:ext cx="2377440" cy="283464"/>
          </a:xfrm>
          <a:prstGeom prst="rect">
            <a:avLst/>
          </a:prstGeom>
          <a:solidFill>
            <a:srgbClr val="F0FF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65776" y="2514600"/>
            <a:ext cx="2313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141.48 ms ✅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52360" y="2505456"/>
            <a:ext cx="1325880" cy="283464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88936" y="2514600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≤ 150ms G.114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37160" y="2807208"/>
            <a:ext cx="26974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3736" y="2816352"/>
            <a:ext cx="26334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P95 Latency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880360" y="2807208"/>
            <a:ext cx="2103120" cy="28346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16936" y="2816352"/>
            <a:ext cx="20391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353.64 ms ⚠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029200" y="2807208"/>
            <a:ext cx="2377440" cy="28346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65776" y="2816352"/>
            <a:ext cx="2313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261.22 ms ✅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452360" y="2807208"/>
            <a:ext cx="1325880" cy="283464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88936" y="2816352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≤ 400ms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37160" y="3108960"/>
            <a:ext cx="2697480" cy="2834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3736" y="3118104"/>
            <a:ext cx="26334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Avg Packet Loss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880360" y="3108960"/>
            <a:ext cx="2103120" cy="283464"/>
          </a:xfrm>
          <a:prstGeom prst="rect">
            <a:avLst/>
          </a:prstGeom>
          <a:solidFill>
            <a:srgbClr val="FFF5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16936" y="3118104"/>
            <a:ext cx="20391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3.544% ❌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029200" y="3108960"/>
            <a:ext cx="2377440" cy="283464"/>
          </a:xfrm>
          <a:prstGeom prst="rect">
            <a:avLst/>
          </a:prstGeom>
          <a:solidFill>
            <a:srgbClr val="F0FF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65776" y="3118104"/>
            <a:ext cx="2313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1.938% ✅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452360" y="3108960"/>
            <a:ext cx="1325880" cy="283464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88936" y="3118104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≤ 3% Y.1541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37160" y="3410712"/>
            <a:ext cx="26974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73736" y="3419856"/>
            <a:ext cx="26334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Max Packet Loss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880360" y="3410712"/>
            <a:ext cx="2103120" cy="28346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16936" y="3419856"/>
            <a:ext cx="20391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27.465%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029200" y="3410712"/>
            <a:ext cx="2377440" cy="28346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65776" y="3419856"/>
            <a:ext cx="2313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17.037%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452360" y="3410712"/>
            <a:ext cx="1325880" cy="283464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88936" y="3419856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—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37160" y="3712464"/>
            <a:ext cx="2697480" cy="2834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73736" y="3721608"/>
            <a:ext cx="26334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Total Throughput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880360" y="3712464"/>
            <a:ext cx="2103120" cy="283464"/>
          </a:xfrm>
          <a:prstGeom prst="rect">
            <a:avLst/>
          </a:prstGeom>
          <a:solidFill>
            <a:srgbClr val="FFF5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16936" y="3721608"/>
            <a:ext cx="20391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108.19 Mbps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029200" y="3712464"/>
            <a:ext cx="2377440" cy="283464"/>
          </a:xfrm>
          <a:prstGeom prst="rect">
            <a:avLst/>
          </a:prstGeom>
          <a:solidFill>
            <a:srgbClr val="F0FF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65776" y="3721608"/>
            <a:ext cx="2313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112.93 Mbps ✅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452360" y="3712464"/>
            <a:ext cx="1325880" cy="283464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488936" y="3721608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maximize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37160" y="4014216"/>
            <a:ext cx="26974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73736" y="4023360"/>
            <a:ext cx="26334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Link Utilization (pcap)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880360" y="4014216"/>
            <a:ext cx="2103120" cy="28346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916936" y="4023360"/>
            <a:ext cx="20391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97.8%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5029200" y="4014216"/>
            <a:ext cx="2377440" cy="28346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065776" y="4023360"/>
            <a:ext cx="2313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97.8%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7452360" y="4014216"/>
            <a:ext cx="1325880" cy="283464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488936" y="4023360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maximize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137160" y="4315968"/>
            <a:ext cx="2697480" cy="2834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73736" y="4325112"/>
            <a:ext cx="26334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ITU-T G.114 Class 1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880360" y="4315968"/>
            <a:ext cx="2103120" cy="283464"/>
          </a:xfrm>
          <a:prstGeom prst="rect">
            <a:avLst/>
          </a:prstGeom>
          <a:solidFill>
            <a:srgbClr val="FFF5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916936" y="4325112"/>
            <a:ext cx="20391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❌ FAILS (174ms)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5029200" y="4315968"/>
            <a:ext cx="2377440" cy="283464"/>
          </a:xfrm>
          <a:prstGeom prst="rect">
            <a:avLst/>
          </a:prstGeom>
          <a:solidFill>
            <a:srgbClr val="F0FF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065776" y="4325112"/>
            <a:ext cx="2313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✅ PASSES (141ms)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7452360" y="4315968"/>
            <a:ext cx="1325880" cy="283464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488936" y="4325112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≤ 150ms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137160" y="4617720"/>
            <a:ext cx="26974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73736" y="4626864"/>
            <a:ext cx="26334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ITU-T Y.1541 Class 3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2880360" y="4617720"/>
            <a:ext cx="2103120" cy="28346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916936" y="4626864"/>
            <a:ext cx="20391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❌ FAILS (3.54%)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5029200" y="4617720"/>
            <a:ext cx="2377440" cy="28346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065776" y="4626864"/>
            <a:ext cx="2313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✅ PASSES (1.94%)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7452360" y="4617720"/>
            <a:ext cx="1325880" cy="283464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488936" y="4626864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≤ 3%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TOPOLOGY COMPARISON — What Changed with IEEE Standards?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42062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777240"/>
            <a:ext cx="420624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777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Original Topology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Backbone delay: 100ms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Access delays: 10 / 50 / 150ms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PHAQM RMSE: 396±214 pkts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MPC RMSE: 24±2.5 pkts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PHAQM throughput: 7.2 Mbps (16%)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MPC throughput: 43 Mbps (95.6%)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PHAQM: traffic STOPS at t=25s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MPC: sustained full 120s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MPC advantage: 6× throughput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206240" cy="4297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777240"/>
            <a:ext cx="42062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777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IEEE/ITU-T Topology  ← Paper Results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261872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Backbone delay: 50ms (G.114 national)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Access: 5ms LAN / 20ms Metro / 50ms WAN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PHAQM RMSE: 200±264 pkts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MPC RMSE: 16.3±1.9 pkts  (12.3× better)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Both: ~44 Mbps throughput (97.8%)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PHAQM latency: 174ms ❌ (fails G.114)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MPC latency: 141ms ✅ (passes G.114)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PHAQM loss: 3.544% ❌ (fails Y.1541)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MPC loss: 1.938% ✅ (passes Y.1541)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2560320"/>
            <a:ext cx="82296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2560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ITU-T &amp; IEEE STANDARD COMPLIANCE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822960"/>
            <a:ext cx="13258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8229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Standard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508760" y="822960"/>
            <a:ext cx="196596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822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Requirement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520440" y="822960"/>
            <a:ext cx="150876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822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PHAQM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Value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74920" y="822960"/>
            <a:ext cx="12344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8229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PHAQM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Status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55080" y="822960"/>
            <a:ext cx="150876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822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MPC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Value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909560" y="822960"/>
            <a:ext cx="105156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9560" y="8229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MPC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Status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37160" y="1325880"/>
            <a:ext cx="13258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" y="1344168"/>
            <a:ext cx="1261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ITU-T G.114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Class 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508760" y="1325880"/>
            <a:ext cx="1965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45336" y="1344168"/>
            <a:ext cx="1901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Avg delay ≤ 150ms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20440" y="1325880"/>
            <a:ext cx="15087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57016" y="1344168"/>
            <a:ext cx="1444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174.35ms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74920" y="1325880"/>
            <a:ext cx="1234440" cy="621792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11496" y="1344168"/>
            <a:ext cx="1170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❌ FAILS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55080" y="1325880"/>
            <a:ext cx="15087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91656" y="1344168"/>
            <a:ext cx="1444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141.48ms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909560" y="1325880"/>
            <a:ext cx="1051560" cy="621792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46136" y="1344168"/>
            <a:ext cx="9875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✅ PASSES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37160" y="1984248"/>
            <a:ext cx="132588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002536"/>
            <a:ext cx="1261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ITU-T G.114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Class 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508760" y="1984248"/>
            <a:ext cx="196596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45336" y="2002536"/>
            <a:ext cx="1901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Delay ≤ 400ms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520440" y="1984248"/>
            <a:ext cx="150876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57016" y="2002536"/>
            <a:ext cx="1444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353.64ms P95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74920" y="1984248"/>
            <a:ext cx="1234440" cy="621792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11496" y="2002536"/>
            <a:ext cx="1170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✅ Passes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55080" y="1984248"/>
            <a:ext cx="150876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91656" y="2002536"/>
            <a:ext cx="1444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261.22ms P95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909560" y="1984248"/>
            <a:ext cx="1051560" cy="621792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46136" y="2002536"/>
            <a:ext cx="9875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✅ PASSES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37160" y="2642616"/>
            <a:ext cx="13258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3736" y="2660904"/>
            <a:ext cx="1261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ITU-T Y.1541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Class 3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508760" y="2642616"/>
            <a:ext cx="1965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45336" y="2660904"/>
            <a:ext cx="1901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Loss ≤ 3%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(data/streaming)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520440" y="2642616"/>
            <a:ext cx="15087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57016" y="2660904"/>
            <a:ext cx="1444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3.544%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074920" y="2642616"/>
            <a:ext cx="1234440" cy="621792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11496" y="2660904"/>
            <a:ext cx="1170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❌ FAILS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55080" y="2642616"/>
            <a:ext cx="15087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91656" y="2660904"/>
            <a:ext cx="1444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1.938%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909560" y="2642616"/>
            <a:ext cx="1051560" cy="621792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46136" y="2660904"/>
            <a:ext cx="9875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✅ PASSES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37160" y="3300984"/>
            <a:ext cx="132588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73736" y="3319272"/>
            <a:ext cx="1261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ITU-T Y.1541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Class 4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508760" y="3300984"/>
            <a:ext cx="196596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545336" y="3319272"/>
            <a:ext cx="1901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Loss ≤ 10%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(best effort)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520440" y="3300984"/>
            <a:ext cx="150876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57016" y="3319272"/>
            <a:ext cx="1444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3.544%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074920" y="3300984"/>
            <a:ext cx="1234440" cy="621792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11496" y="3319272"/>
            <a:ext cx="1170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✅ Passes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355080" y="3300984"/>
            <a:ext cx="150876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91656" y="3319272"/>
            <a:ext cx="1444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1.938%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909560" y="3300984"/>
            <a:ext cx="1051560" cy="621792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46136" y="3319272"/>
            <a:ext cx="9875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✅ PASSES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37160" y="3959352"/>
            <a:ext cx="13258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73736" y="3977640"/>
            <a:ext cx="1261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IEEE 802.3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Throughput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1508760" y="3959352"/>
            <a:ext cx="1965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545336" y="3977640"/>
            <a:ext cx="1901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Maximize utilization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520440" y="3959352"/>
            <a:ext cx="15087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557016" y="3977640"/>
            <a:ext cx="1444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97.8% (44Mbps)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074920" y="3959352"/>
            <a:ext cx="1234440" cy="621792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11496" y="3977640"/>
            <a:ext cx="1170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✅ Passes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355080" y="3959352"/>
            <a:ext cx="15087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91656" y="3977640"/>
            <a:ext cx="1444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97.8% (44Mbps)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909560" y="3959352"/>
            <a:ext cx="1051560" cy="621792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946136" y="3977640"/>
            <a:ext cx="9875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✅ PASSES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137160" y="4663440"/>
            <a:ext cx="8869680" cy="438912"/>
          </a:xfrm>
          <a:prstGeom prst="rect">
            <a:avLst/>
          </a:prstGeom>
          <a:solidFill>
            <a:srgbClr val="ECFDF5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82880" y="46634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✅  Hybrid MPC+PID+RLS is the FIRST AQM controller in this study class to achieve ITU-T G.114 Class 1 latency compliance AND Y.1541 Class 3 loss compliance simultaneously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COMPARISON WITH RELATED WORK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777240"/>
            <a:ext cx="22402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777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Aspect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377440" y="777240"/>
            <a:ext cx="1417320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777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PI/PID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[classical]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0" y="777240"/>
            <a:ext cx="1508760" cy="45720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7772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FOTID+SOA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[Abood 2022]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94960" y="777240"/>
            <a:ext cx="1417320" cy="4572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777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PHAQM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[Xu 2020]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0" y="777240"/>
            <a:ext cx="2148840" cy="4572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777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Hybrid MPC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[Ours]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440" y="1280160"/>
            <a:ext cx="2240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" y="128930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Simulator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77440" y="1280160"/>
            <a:ext cx="1417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14016" y="128930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MATLAB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0" y="1280160"/>
            <a:ext cx="1508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77056" y="1289304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MATLAB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94960" y="1280160"/>
            <a:ext cx="1417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128930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NS-2/MATLAB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0" y="1280160"/>
            <a:ext cx="214884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4576" y="1289304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</a:rPr>
              <a:t>NS-3.45 ✅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440" y="1627632"/>
            <a:ext cx="22402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" y="163677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Traffic Type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77440" y="1627632"/>
            <a:ext cx="141732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14016" y="1636776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TCP fluid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40480" y="1627632"/>
            <a:ext cx="150876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77056" y="1636776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TCP fluid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94960" y="1627632"/>
            <a:ext cx="141732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31536" y="1636776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TCP homogeneous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58000" y="1627632"/>
            <a:ext cx="214884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94576" y="163677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</a:rPr>
              <a:t>TCP+UDP mixed ✅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1440" y="1975104"/>
            <a:ext cx="2240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8016" y="198424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No. of Flows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377440" y="1975104"/>
            <a:ext cx="1417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14016" y="198424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N=500 fixed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840480" y="1975104"/>
            <a:ext cx="1508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77056" y="1984248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N=60 fixed RTT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94960" y="1975104"/>
            <a:ext cx="1417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31536" y="198424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N=500 same RTT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58000" y="1975104"/>
            <a:ext cx="214884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4576" y="1984248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</a:rPr>
              <a:t>200 hetero. ✅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1440" y="2322576"/>
            <a:ext cx="22402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8016" y="233172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Queue RMSE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377440" y="2322576"/>
            <a:ext cx="141732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14016" y="233172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Not reported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840480" y="2322576"/>
            <a:ext cx="150876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77056" y="2331720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Not reported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394960" y="2322576"/>
            <a:ext cx="141732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31536" y="233172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200±264 pkts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858000" y="2322576"/>
            <a:ext cx="214884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94576" y="2331720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</a:rPr>
              <a:t>16.3±1.9 pkts ✅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1440" y="2670048"/>
            <a:ext cx="2240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28016" y="267919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Latency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377440" y="2670048"/>
            <a:ext cx="1417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14016" y="267919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Not measured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840480" y="2670048"/>
            <a:ext cx="1508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77056" y="2679192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Not measured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394960" y="2670048"/>
            <a:ext cx="141732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31536" y="267919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174ms ❌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858000" y="2670048"/>
            <a:ext cx="214884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94576" y="2679192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</a:rPr>
              <a:t>141ms ✅ G.114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91440" y="3017520"/>
            <a:ext cx="22402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28016" y="302666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Packet Loss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377440" y="3017520"/>
            <a:ext cx="141732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414016" y="302666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Not measured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840480" y="3017520"/>
            <a:ext cx="150876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77056" y="3026664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Not measured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394960" y="3017520"/>
            <a:ext cx="141732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31536" y="302666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3.544% ❌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858000" y="3017520"/>
            <a:ext cx="214884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94576" y="3026664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</a:rPr>
              <a:t>1.938% ✅ Y.1541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91440" y="3364992"/>
            <a:ext cx="2240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28016" y="337413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Throughput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377440" y="3364992"/>
            <a:ext cx="1417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414016" y="3374136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Not measured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840480" y="3364992"/>
            <a:ext cx="1508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877056" y="3374136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Not measured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394960" y="3364992"/>
            <a:ext cx="1417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431536" y="3374136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108 Mbps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858000" y="3364992"/>
            <a:ext cx="214884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894576" y="337413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</a:rPr>
              <a:t>112 Mbps ✅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91440" y="3712464"/>
            <a:ext cx="22402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28016" y="372160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Stats (runs)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2377440" y="3712464"/>
            <a:ext cx="141732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414016" y="372160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1 run, no σ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3840480" y="3712464"/>
            <a:ext cx="150876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877056" y="3721608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1 run, no σ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5394960" y="3712464"/>
            <a:ext cx="141732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431536" y="372160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1 run, no σ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858000" y="3712464"/>
            <a:ext cx="214884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894576" y="3721608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</a:rPr>
              <a:t>5 runs + σ ✅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91440" y="4059936"/>
            <a:ext cx="2240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28016" y="406908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ITU-T check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2377440" y="4059936"/>
            <a:ext cx="141732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414016" y="406908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❌ No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3840480" y="4059936"/>
            <a:ext cx="150876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877056" y="4069080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❌ No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5394960" y="4059936"/>
            <a:ext cx="141732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431536" y="406908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❌ No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6858000" y="4059936"/>
            <a:ext cx="214884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894576" y="4069080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</a:rPr>
              <a:t>✅ G.114+Y.1541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91440" y="4407408"/>
            <a:ext cx="22402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28016" y="441655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Parameters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2377440" y="4407408"/>
            <a:ext cx="141732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414016" y="441655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2 (manual)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3840480" y="4407408"/>
            <a:ext cx="150876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877056" y="4416552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6 (needs SOA opt.)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5394960" y="4407408"/>
            <a:ext cx="141732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431536" y="441655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17 (Hebbian)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6858000" y="4407408"/>
            <a:ext cx="214884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894576" y="4416552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</a:rPr>
              <a:t>3 (self-tuning) ✅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CONCLUSION — Why Hybrid MPC+PID+RLS Wins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297680" cy="1280160"/>
          </a:xfrm>
          <a:prstGeom prst="rect">
            <a:avLst/>
          </a:prstGeom>
          <a:solidFill>
            <a:srgbClr val="0F224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22960"/>
            <a:ext cx="41148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822960"/>
            <a:ext cx="411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9144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12.3× Better Queue Regulation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RMSE: 16.3±1.9 vs 200±264 pkts — extremely consistent across all 5 runs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" y="2240280"/>
            <a:ext cx="4297680" cy="1280160"/>
          </a:xfrm>
          <a:prstGeom prst="rect">
            <a:avLst/>
          </a:prstGeom>
          <a:solidFill>
            <a:srgbClr val="0F2240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2240280"/>
            <a:ext cx="411480" cy="1280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2240280"/>
            <a:ext cx="411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ITU-T G.114 Class 1 Compliance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74320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Avg latency 141ms ≤ 150ms limit — PHAQM fails at 174ms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2880" y="3657600"/>
            <a:ext cx="4297680" cy="1280160"/>
          </a:xfrm>
          <a:prstGeom prst="rect">
            <a:avLst/>
          </a:prstGeom>
          <a:solidFill>
            <a:srgbClr val="0F2240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3657600"/>
            <a:ext cx="411480" cy="1280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3657600"/>
            <a:ext cx="411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" y="37490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ITU-T Y.1541 Class 3 Compliance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16052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Packet loss 1.938% ≤ 3% limit — PHAQM fails at 3.544%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822960"/>
            <a:ext cx="4297680" cy="1280160"/>
          </a:xfrm>
          <a:prstGeom prst="rect">
            <a:avLst/>
          </a:prstGeom>
          <a:solidFill>
            <a:srgbClr val="0F224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822960"/>
            <a:ext cx="411480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822960"/>
            <a:ext cx="411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57800" y="9144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Heterogeneous Traffic Robustness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132588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Works correctly with 200 mixed flows (TCP+UDP) across 3 RTT tiers — PHAQM collapses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240280"/>
            <a:ext cx="4297680" cy="1280160"/>
          </a:xfrm>
          <a:prstGeom prst="rect">
            <a:avLst/>
          </a:prstGeom>
          <a:solidFill>
            <a:srgbClr val="0F224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40280"/>
            <a:ext cx="41148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240280"/>
            <a:ext cx="411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57800" y="23317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Self-Tuning Online — No Offline Optimization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274320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RLS adapts parameters in real-time. FOTID needs SOA (50 population × 30 iterations offline)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657600"/>
            <a:ext cx="4297680" cy="1280160"/>
          </a:xfrm>
          <a:prstGeom prst="rect">
            <a:avLst/>
          </a:prstGeom>
          <a:solidFill>
            <a:srgbClr val="0F2240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57600"/>
            <a:ext cx="411480" cy="1280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657600"/>
            <a:ext cx="411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57800" y="37490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Statistical Validity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416052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5 independent runs with σ reported — no prior work does this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37160" y="4754880"/>
            <a:ext cx="88696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475488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Recommended for IEEE paper submission  |  NS-3.45 simulation  |  Ready for full paper writing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AQM Controller Research — Guide Review</dc:title>
  <dc:subject>PptxGenJS Presentation</dc:subject>
  <dc:creator>PptxGenJS</dc:creator>
  <cp:lastModifiedBy>PptxGenJS</cp:lastModifiedBy>
  <cp:revision>1</cp:revision>
  <dcterms:created xsi:type="dcterms:W3CDTF">2026-03-11T04:09:09Z</dcterms:created>
  <dcterms:modified xsi:type="dcterms:W3CDTF">2026-03-11T04:09:09Z</dcterms:modified>
</cp:coreProperties>
</file>