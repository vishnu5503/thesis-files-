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720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7043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88366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59689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31012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02336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73659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ADAPTIVE QUEUE MANAGEMENT  —  GUIDE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Design of an Adaptive Controller Based 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Active Queue Management in TCP/IP Flows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9260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K. Vishnu Vardhan  (24MECP01)  •  M.Tech Power &amp; Control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PDPM IIITDM Jabalpur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Guides: Dr. Prabin Kumar Padhy  |  Dr. Sachin Kumar Jain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12.3×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RMSE Improvement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42032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141ms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87752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ITU-T G.114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18304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1.938%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64024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Packet Loss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94576" y="3520440"/>
            <a:ext cx="201168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94576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95.6%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0296" y="4050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Link Util.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4846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66"/>
                </a:solidFill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PRESENTATION AGENDA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73152" cy="4480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89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7680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What is AQM? — Research Background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38912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88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2070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1: PHAQM — How It Works + Block Diagram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627632"/>
            <a:ext cx="438912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62763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PHAQM Results under Fixed (Homogeneous) Traffic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2066544"/>
            <a:ext cx="43891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0665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Our New System — Heterogeneous Traffic Model + Block Diagram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505456"/>
            <a:ext cx="43891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5054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5237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PHAQM on High-Delay Topology — Results &amp; Failure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" y="2944368"/>
            <a:ext cx="4389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9443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9626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System 2: Hybrid MPC+PID+RLS — How It Works + Block Diagram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" y="3383280"/>
            <a:ext cx="4389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3832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4015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Hybrid MPC on High-Delay Topology — Results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" y="3822192"/>
            <a:ext cx="43891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8221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Why High Delays? — Comparison &amp; Root Cause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4261104"/>
            <a:ext cx="4389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2611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2793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IEEE Standard Topology — Reduced Delays + Both System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" y="4700016"/>
            <a:ext cx="43891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70001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7183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ITU-T Compliance &amp; Final Comparison — Conclusion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AQM? — Research Background &amp; Motivation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CONGESTION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TCP networks suffer congestion when routers are overloaded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Tail-drop: router drops ALL packets when buffer is full → TCP collapse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Result: network lock-out, synchronization, starvation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AQM (Active Queue Management): proactively drop packets early using a drop probability signal before buffer fills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AQM sits at the router and controls packet drop probability p(t) to keep queue length q(t) near a desired target q₀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Goal: q(t) → q₀ = 500 pkts, low latency, low loss, high throughput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EXISTING APPROACHES &amp; GAPS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RED / Adaptive RED — heuristic, too parameter-sensitive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PI / PID Controller — fixed gains, poor under dynamic load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GPC (Generalized Predictive Control) — large oscillations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FOTID + SOA [Abood 2022] — MATLAB only, N=60 flows, no QoS metrics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PHAQM [Xu 2020] — MPC + Hebbian weights, tested only on homogeneous TCP traffic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• NONE of the above: measure latency, validate ITU-T standards, or test with mixed TCP+UDP heterogeneous traffic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How It Works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PHAQM = MPC (GPC-based predictor) + Hebbian Neural Adaptive Weights  |  17 adaptive weights  |  Designed for homogeneous TCP only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298448"/>
            <a:ext cx="12801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1335024"/>
            <a:ext cx="12801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160" y="1678838"/>
            <a:ext cx="12801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N=500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same RTT 100ms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17320" y="1664208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1188720"/>
            <a:ext cx="1554480" cy="950976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1225296"/>
            <a:ext cx="1554480" cy="4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Buffer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1683228"/>
            <a:ext cx="155448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q(t): 0–1000 pkts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45Mbps bottleneck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2139696"/>
            <a:ext cx="0" cy="43891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q(t) measured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23160" y="25786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 = q(t) − q₀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q₀ = 500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3035808"/>
            <a:ext cx="0" cy="34747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3383280"/>
            <a:ext cx="19202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91640" y="341985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MPC Predictor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383499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d-step ahead prediction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Diophantine equation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GPC-based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11880" y="3822192"/>
            <a:ext cx="6400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6210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u_MPC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3383280"/>
            <a:ext cx="2011680" cy="868680"/>
          </a:xfrm>
          <a:prstGeom prst="rect">
            <a:avLst/>
          </a:prstGeom>
          <a:solidFill>
            <a:srgbClr val="7C2D12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51960" y="3419856"/>
            <a:ext cx="20116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Hebbian Adapter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51960" y="383499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wᵢ(t) = wᵢ(t−1) + η·e·xᵢ·u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17 weights, η=0.001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Adaptive tuning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57800" y="3383280"/>
            <a:ext cx="0" cy="-64008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944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u(t) adapted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4840" y="2011680"/>
            <a:ext cx="1645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34840" y="2048256"/>
            <a:ext cx="1645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Drop Probability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2354031"/>
            <a:ext cx="164592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p(t) ∈ [0,1]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back to router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34840" y="2340864"/>
            <a:ext cx="-100584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340864"/>
            <a:ext cx="0" cy="-676656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1664208"/>
            <a:ext cx="31546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1298448"/>
            <a:ext cx="1417320" cy="73152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1335024"/>
            <a:ext cx="14173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83680" y="1678838"/>
            <a:ext cx="141732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TCP receivers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06240" y="3337560"/>
            <a:ext cx="2148840" cy="960120"/>
          </a:xfrm>
          <a:prstGeom prst="rect">
            <a:avLst/>
          </a:prstGeom>
          <a:solidFill>
            <a:srgbClr val="FFF0F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3337560"/>
            <a:ext cx="2148840" cy="960120"/>
          </a:xfrm>
          <a:prstGeom prst="rect">
            <a:avLst/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⚠ FAILURE POINT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51960" y="363016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When u→0 initially: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Δwᵢ = η·e·xᵢ·u → 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Weights freeze → queue saturates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7160" y="4389120"/>
            <a:ext cx="8869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28600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How PHAQM Works: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" y="464515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① TCP flows generate packets → Router buffer accumulates → q(t) is measured  ②  Error e = q(t) − q₀ is computed  ③  MPC predictor forecasts future queue using Diophantine equation  ④  Hebbian adapter updates 17 weights using unsupervised learning  ⑤  Control signal u(t) = K·Σwᵢxᵢ sets drop probability p  ⑥  Drop signal feeds back to router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1: PHAQM — Results under Original Fixed Traffic [Xu et al. 2020]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32004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320040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Original Paper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234440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2344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5272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Simulator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55648" y="12527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MATLAB / NS-2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59105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591056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6093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TCP connections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16093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 = 200 / 500 / 1000 / 2000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947672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9072" y="194767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9659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Traffic 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55648" y="19659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TCP/Reno only (homogeneous)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30428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19072" y="2304288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32257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All flows RTT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55648" y="23225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Fixed 100ms for ALL flows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2660904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19072" y="266090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791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Bottleneck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55648" y="26791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45 Mbps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" y="3017520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19072" y="3017520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0358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Buffer size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55648" y="303580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1000 packets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" y="3374136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9072" y="337413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33924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target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55648" y="339242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q₀ = 500 packets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" y="3730752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3730752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37490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Sample interval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55648" y="374904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Ts = 0.01 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4087368"/>
            <a:ext cx="1554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19072" y="408736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" y="41056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Adaptive weights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55648" y="410565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weights (w₁...w₁₇)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444398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19072" y="4443984"/>
            <a:ext cx="157276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44622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Sim duration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55648" y="44622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200 seconds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7772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566160" y="777240"/>
            <a:ext cx="539496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777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Claimed Results (Xu 2020 Paper)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0" y="1234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Queue control: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0" y="1234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Stable near q₀=500 for N=200,500,1000,2000 TCP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0" y="1563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Convergence: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0" y="15636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Fast convergence rate, small oscillation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657600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Comparison: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Outperforms PI, REM, GPC under dynamic load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0" y="2221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⚠ Condition: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486400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Homogeneous TCP only — single fixed RTT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566160" y="2670048"/>
            <a:ext cx="5394960" cy="2359152"/>
          </a:xfrm>
          <a:prstGeom prst="rect">
            <a:avLst/>
          </a:prstGeom>
          <a:solidFill>
            <a:srgbClr val="F0F4FF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007608" y="3502152"/>
            <a:ext cx="502920" cy="50292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07608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657600" y="40507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Graph (Original Paper Fig. 2)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57600" y="43251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Insert screenshot of PHAQM stable queue at N=500, 200s simulation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OUR NEW SYSTEM — Heterogeneous Traffic Model &amp; Topology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58952"/>
            <a:ext cx="8869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5895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Problem: PHAQM was only tested on homogeneous TCP. Real networks have mixed traffic types and different RTTs. We redesigned the topology to reflect reality.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88720"/>
            <a:ext cx="3931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OLD Topology (Xu 2020 / Original)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591056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N = 500 TCP/Reno flows (all identical)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All flows: same RTT = 100ms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Bottleneck: 45 Mbps, 100ms delay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All links: 15ms / 20ms (fixed)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No UDP traffic — homogeneous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920240"/>
            <a:ext cx="7315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88720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Topology (Heterogeneous)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591056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200 flows: 120 BulkSend TCP + 60 OnOff TCP + 20 UDP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3 RTT tiers: 10ms / 50ms / 150ms (heterogeneous)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Bottleneck: 45 Mbps, 100ms delay (orig) → 50ms (IEEE)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Random flow start times: 0–30s (realistic)
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• Mixed traffic: TCP Reno + TCP OnOff + UDP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292608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Our Dumbbell Topology — Block Diagram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" y="3246120"/>
            <a:ext cx="137160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BulkTCP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(×120)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63040" y="341071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" y="3611880"/>
            <a:ext cx="1371600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OnOff TCP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(×60)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63040" y="377647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" y="3977640"/>
            <a:ext cx="13716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UDP Video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(×20)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63040" y="414223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" y="4343400"/>
            <a:ext cx="137160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OnOff TCP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(surplus)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63040" y="4507992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4645152"/>
            <a:ext cx="1371600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" y="4645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BulkTCP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(extra)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63040" y="4809744"/>
            <a:ext cx="73152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" y="31821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1: 10ms (LAN)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14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2: 50ms (Metro)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1440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9488"/>
                </a:solidFill>
              </a:rPr>
              <a:t>RTT Tier 3: 150ms (WAN)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194560" y="3474720"/>
            <a:ext cx="1097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94560" y="35112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(Left)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94560" y="3950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Access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3931920"/>
            <a:ext cx="6400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3401568"/>
            <a:ext cx="1280160" cy="1060704"/>
          </a:xfrm>
          <a:prstGeom prst="rect">
            <a:avLst/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931920" y="3401568"/>
            <a:ext cx="1280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BOTTLENECK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45 Mbps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100ms delay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(AQM here)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2080" y="3931920"/>
            <a:ext cx="6400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474720"/>
            <a:ext cx="1097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52160" y="351129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(Right)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2160" y="3950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Access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49440" y="3931920"/>
            <a:ext cx="64008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0" y="3474720"/>
            <a:ext cx="1371600" cy="9144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Destinations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(TCP/UDP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receivers)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PHAQM on High-Delay Topology — Results &amp; Failure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Configuration: 45 Mbps bottleneck  |  100ms backbone delay  |  Access: 10ms / 50ms / 150ms  |  200 heterogeneous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 — 5-Run Statistical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600200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1848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492.2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292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near target but...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20208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020824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020824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0391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396.4 ± 214.0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MASSIVE variance 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441448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441448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2441448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459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MAE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395.5 pkts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huge steady error 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86207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862072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6352" y="2862072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8803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RMSE Std 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± 214 pkts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5292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completely unstable 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282696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282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16352" y="3282696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3009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Offset from q₀=500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−7.8 pkts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5292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appears close...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7033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703320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6352" y="3703320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7216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Settling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Never settles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5292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permanent oscillation ❌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4123944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4123944"/>
            <a:ext cx="11887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6352" y="4123944"/>
            <a:ext cx="118872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41422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drop prob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≈ 0 (collapsed)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5292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no control signal 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Wireshark: Traffic STOPS at t=25s → zero activity for 95 seconds (TCP starvation)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1170432"/>
            <a:ext cx="4754880" cy="3877056"/>
          </a:xfrm>
          <a:prstGeom prst="rect">
            <a:avLst/>
          </a:prstGeom>
          <a:solidFill>
            <a:srgbClr val="F0F4FF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327648" y="2761488"/>
            <a:ext cx="502920" cy="50292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29768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— High Delay Topology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NS-3.45 simulation output: queue vs time (100ms backbone, heterogeneous traffic)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How It Works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3-path controller: MPC prediction + PID feedback + RLS online self-tuning  |  Overcomes PHAQM Hebbian collapse by maintaining non-zero control at all times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" y="1371600"/>
            <a:ext cx="11887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" y="140817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TCP+UDP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" y="172821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120 TCP Bulk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60 TCP Web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20 UDP Video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719072"/>
            <a:ext cx="4114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234440"/>
            <a:ext cx="141732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271016"/>
            <a:ext cx="14173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Buffer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1733702"/>
            <a:ext cx="1417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q(t): 0–1000 pkts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45 Mbps bottleneck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AQM controller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04872" y="2194560"/>
            <a:ext cx="0" cy="41148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q(t)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76272" y="26060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8529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 = q(t)−q₀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q₀=500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04872" y="3063240"/>
            <a:ext cx="0" cy="33832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3401568"/>
            <a:ext cx="18745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3438144"/>
            <a:ext cx="187452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PID Controller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3819997"/>
            <a:ext cx="187452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Kp=0.30  Ki=0.50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Kd=0.008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Primary feedback path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37560" y="3803904"/>
            <a:ext cx="7315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639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u_PID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69080" y="2606040"/>
            <a:ext cx="17373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9080" y="2642616"/>
            <a:ext cx="1737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MPC Predictor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69080" y="3010205"/>
            <a:ext cx="17373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N=20 step horizon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Ts=0.01s, R=0.1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Predicts future queue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04872" y="2606040"/>
            <a:ext cx="0" cy="-20116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4872" y="2606040"/>
            <a:ext cx="166420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2999232"/>
            <a:ext cx="0" cy="402336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3401568"/>
            <a:ext cx="1737360" cy="804672"/>
          </a:xfrm>
          <a:prstGeom prst="rect">
            <a:avLst/>
          </a:prstGeom>
          <a:solidFill>
            <a:srgbClr val="92400E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69080" y="3438144"/>
            <a:ext cx="173736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RLS Estimator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3819997"/>
            <a:ext cx="173736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λ=0.99, P₀=100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â ∈ [0.80, 0.9999]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Online model update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3401568"/>
            <a:ext cx="0" cy="-93268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9834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model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update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35040" y="3474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+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806440" y="3703320"/>
            <a:ext cx="2286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3703320"/>
            <a:ext cx="0" cy="-70408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2999232"/>
            <a:ext cx="2286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246120"/>
            <a:ext cx="21031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3282696"/>
            <a:ext cx="21031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Drop Probability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3588471"/>
            <a:ext cx="210312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 = α·p + (1-α)·u_hybrid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PIE smoothing α=0.9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Anti-windup cold-start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92240" y="370332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3575304"/>
            <a:ext cx="0" cy="-185623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1719072"/>
            <a:ext cx="-56692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1719072"/>
            <a:ext cx="0" cy="-48463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1234440"/>
            <a:ext cx="1371600" cy="68580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406640" y="127101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159105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TCP/UDP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receivers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08960" y="1719072"/>
            <a:ext cx="42976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" y="4334256"/>
            <a:ext cx="8869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Key Advantages over PHAQM: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28600" y="460857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① PID path guarantees u(t) ≠ 0 always → no Hebbian collapse  </a:t>
            </a:r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② RLS self-tunes online → no offline meta-heuristic optimization needed  </a:t>
            </a:r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③ Anti-windup: skip integral when q &lt; 0.30×q₀ → no integrator saturation  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④ PIE smoothing → stable drop probability signal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2: Hybrid MPC+PID+RLS — High-Delay Topology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Same topology as PHAQM test: 45 Mbps  |  100ms backbone  |  Access: 10/50/150ms  |  200 heterogeneous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 — 5-Run Statistical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6352" y="1600200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1848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499.2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2928" y="161848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Target=500 ✅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20208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020824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02082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0391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24.4 ± 2.5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20391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Tight &amp; consistent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441448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441448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6352" y="2441448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45973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MAE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18.8 pkts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245973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Minimal error 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86207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862072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6352" y="28620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8803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RMSE Std 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± 2.5 pkts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52928" y="2880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Highly stable 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282696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282696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16352" y="3282696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3009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Offset from q₀=500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−0.8 pkts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52928" y="330098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Near-perfect 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7033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703320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6352" y="370332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7216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Settling time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33.6 seconds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52928" y="3721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Then fully stable 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4123944"/>
            <a:ext cx="14630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4123944"/>
            <a:ext cx="1188720" cy="38404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6352" y="4123944"/>
            <a:ext cx="11887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414223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drop prob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3.26% (active)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52928" y="414223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Control working 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Wireshark: Sustained 43 Mbps (95.6%) for full 120s  |  787,120 packets  |  654 MB delivered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1170432"/>
            <a:ext cx="4754880" cy="3877056"/>
          </a:xfrm>
          <a:prstGeom prst="rect">
            <a:avLst/>
          </a:prstGeom>
          <a:solidFill>
            <a:srgbClr val="F0F4FF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327648" y="2761488"/>
            <a:ext cx="502920" cy="50292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29768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Hybrid MPC Queue Length — High Delay Topology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NS-3.45 output: queue stabilizes at ~500 pkts after 33.6s settling (100ms backbone)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HIGH DELAYS? — Comparison &amp; Root Cause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" y="76809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Head-to-Head: Original Topology (100ms Backbone)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7160" y="109728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0972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1097280"/>
            <a:ext cx="205740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97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PHAQM 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1097280"/>
            <a:ext cx="251460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97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MPC 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1097280"/>
            <a:ext cx="1508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097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" y="1517904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270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Mean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80360" y="1517904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5270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492 pkts (unstable)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517904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52704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499 pkts (stable)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43800" y="1517904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52704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" y="1865376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18745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Queue RMSE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80360" y="1865376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8745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396 ± 214 pkts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1865376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87452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24 ± 2.5 pkts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43800" y="1865376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87452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16×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7160" y="2212848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2219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Settling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80360" y="2212848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22199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Never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2212848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22199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33.6 seconds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2212848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221992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only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7160" y="2560320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256946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Total packets (Wireshark)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2560320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2569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193,930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2560320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569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787,120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43800" y="2560320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2569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4×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37160" y="2907792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91693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Throughput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80360" y="2907792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291693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7.2 Mbps (16%)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2907792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29169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43 Mbps (95.6%)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43800" y="2907792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291693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6×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3255264"/>
            <a:ext cx="2697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326440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Data delivered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80360" y="3255264"/>
            <a:ext cx="2057400" cy="329184"/>
          </a:xfrm>
          <a:prstGeom prst="rect">
            <a:avLst/>
          </a:prstGeom>
          <a:solidFill>
            <a:srgbClr val="FFF5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326440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104.7 MB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83480" y="3255264"/>
            <a:ext cx="2514600" cy="329184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32644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654.1 MB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43800" y="3255264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26440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6.25×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37160" y="3602736"/>
            <a:ext cx="2697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361188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Traffic pattern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880360" y="3602736"/>
            <a:ext cx="20574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0" y="361188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Stops at t=25s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983480" y="3602736"/>
            <a:ext cx="25146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361188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</a:rPr>
              <a:t>Full 120s active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543800" y="3602736"/>
            <a:ext cx="1508760" cy="329184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361188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MPC only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37160" y="3986784"/>
            <a:ext cx="8869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37160" y="3986784"/>
            <a:ext cx="8869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398678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Do HIGH DELAYS Hurt PHAQM?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28600" y="43708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① Longer RTT = slower TCP feedback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control loop reacts too slowly to bursts  |  </a:t>
            </a:r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② Heterogeneous RTTs (10/50/150ms)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flows arrive out-of-sync, Hebbian cannot converge  | 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③ Hebbian collapse: u≈0 → Δw≈0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weights never update → queue permanently saturates at 984 pkts → TCP starvation for 95s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MOVING TO IEEE STANDARDS — Topology Redesign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The original 100ms backbone delay exceeds ITU-T G.114 national backbone standards. We redesigned the topology to comply with IEEE 802.3 and ITU-T G.114.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88720"/>
            <a:ext cx="42062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88720"/>
            <a:ext cx="4206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Old Topology (100ms — Non-compliant)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IEEE Topology (50ms — Compliant 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" y="164592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164592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6550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Backbone delay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16550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100ms (too high)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164592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6550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50ms ✅ (ITU-T G.114)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201168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9072" y="201168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02082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202082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10ms (LAN)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201168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0208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5ms ✅ (IEEE 802.3 LAN)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237744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237744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55648" y="238658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50ms (Metro)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82312" y="237744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3865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20ms ✅ (IEEE 802.1 Metro)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" y="274320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19072" y="274320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75234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Access Tier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55648" y="275234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150ms (WAN)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82312" y="274320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7523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50ms ✅ (WAN-edge)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10896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19072" y="310896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3118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Bottleneck BW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55648" y="311810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45 Mbps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3108960"/>
            <a:ext cx="413308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1181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45 Mbps (unchanged)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4592" y="347472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19072" y="3474720"/>
            <a:ext cx="2587752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48386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RTT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55648" y="348386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~100ms+access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82312" y="3474720"/>
            <a:ext cx="4133088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483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~50ms+access (halved)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4592" y="3840480"/>
            <a:ext cx="155448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19072" y="3840480"/>
            <a:ext cx="258775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" y="384962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Expected latency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755648" y="384962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~175ms avg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82312" y="3840480"/>
            <a:ext cx="413308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38496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~140ms avg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4592" y="4206240"/>
            <a:ext cx="15544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19072" y="4206240"/>
            <a:ext cx="2587752" cy="33832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42153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ITU-T G.114 Class 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755648" y="421538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❌ FAILS (&gt;150ms)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82312" y="4206240"/>
            <a:ext cx="4133088" cy="33832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8888" y="42153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 (≤150ms)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4663440"/>
            <a:ext cx="8869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6634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Standard References:  ITU-T G.114 ≤ 50ms one-way national backbone  |  IEEE 802.3 LAN ≤ 5ms  |  IEEE 802.1 Metro ≤ 20ms  |  WAN-edge ≤ 50ms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IEEE/ITU-T Compliant Topology — Complete Block Diagram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Both PHAQM and Hybrid MPC are tested on THIS topology for the paper results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" y="1170432"/>
            <a:ext cx="146304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" y="12070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BulkSend TCP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(×120 flows)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" y="15603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Random start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0–30s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" y="2084832"/>
            <a:ext cx="146304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" y="21214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OnOff TCP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(×60 flows)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" y="24747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Web traffic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model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" y="2999232"/>
            <a:ext cx="146304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" y="3035808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UDP Video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(×20 flows)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" y="3389132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Constant 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 CBR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1938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Tier 1: 5ms (LAN)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IEEE 802.3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2852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Tier 2: 20ms (Metro)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IEEE 802.1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Tier 3: 50ms (WAN-edge)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54480" y="15453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4597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374136"/>
            <a:ext cx="6858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1828800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40280" y="186537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0280" y="2446934"/>
            <a:ext cx="11887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Traffic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aggregator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200 flows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2423160"/>
            <a:ext cx="50292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1600200"/>
            <a:ext cx="1371600" cy="1645920"/>
          </a:xfrm>
          <a:prstGeom prst="rect">
            <a:avLst/>
          </a:prstGeom>
          <a:solidFill>
            <a:srgbClr val="0A2540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16002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BOTTLENECK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LINK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45 Mbps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50ms delay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(ITU-T G.114)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AQM 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423160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828800"/>
            <a:ext cx="11887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60720" y="186537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0" y="2446934"/>
            <a:ext cx="11887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Traffic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distributor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2121408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2423160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724912"/>
            <a:ext cx="45720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645920"/>
            <a:ext cx="1554480" cy="1371600"/>
          </a:xfrm>
          <a:prstGeom prst="rect">
            <a:avLst/>
          </a:prstGeom>
          <a:solidFill>
            <a:srgbClr val="374151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168249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Destinations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(380 flows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receivers)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23591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All TCP/UDP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DDDD"/>
                </a:solidFill>
              </a:rPr>
              <a:t>flows complete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Drop prob p(t)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feedback signal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337560"/>
            <a:ext cx="0" cy="-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" y="4005072"/>
            <a:ext cx="8869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0325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IEEE/ITU-T Topology Specifications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" y="4334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Bottleneck: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17320" y="433425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45 Mbps  |  50ms delay  (ITU-T G.114 national backbone)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28600" y="45354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Access links: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417320" y="453542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LAN: 5ms  |  Metro: 20ms  |  WAN-edge: 50ms  (IEEE 802.3/802.1)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8600" y="4736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Traffic mix: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17320" y="47365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120 BulkSend TCP + 60 OnOff TCP + 20 UDP CBR  =  200 flows total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" y="4937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Buffer size: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417320" y="493776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1000 packets  |  qRef = 500 packets  |  Ts = 0.01s  |  Sim duration = 120s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PHAQM on IEEE/ITU-T Topology — Results (Minimized Delays)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IEEE Topology: 45 Mbps  |  50ms backbone  |  Access: 5ms/20ms/50ms  |  200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PHAQM — IEEE Topology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600200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0934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0934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695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07208" y="16093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Over target 500 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19568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1956816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956816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96596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1965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200 ± 264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7208" y="19659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Still unstable 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313432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313432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0632" y="2313432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3225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3225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174.35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07208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Fails G.114 ≤150ms 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67004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670048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70632" y="2670048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6791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Min / Max Latency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67919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60 / 363.50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07208" y="2679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Wide range 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026664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026664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3026664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0358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03580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353.64 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07208" y="303580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Near 400ms limit ⚠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383280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0632" y="3383280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392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39242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3.544%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07208" y="33924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Fails Y.1541 ≤3% ❌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3739896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3739896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70632" y="3739896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374904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74904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27.465%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07208" y="374904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Very high 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4592" y="409651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27632" y="4096512"/>
            <a:ext cx="1143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70632" y="4096512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41056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64208" y="410565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108.19 Mbps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07208" y="410565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380 flows analyzed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592" y="4453128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7632" y="4453128"/>
            <a:ext cx="1143000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4453128"/>
            <a:ext cx="1252728" cy="329184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44622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per-flow tput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64208" y="446227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0.285 Mbps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07208" y="446227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Lower than MPC ❌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CONCLUSION: Even with reduced delays, PHAQM still FAILS ITU-T G.114 (174ms &gt; 150ms) and Y.1541 (3.544% &gt; 3%)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06240" y="1170432"/>
            <a:ext cx="4754880" cy="3877056"/>
          </a:xfrm>
          <a:prstGeom prst="rect">
            <a:avLst/>
          </a:prstGeom>
          <a:solidFill>
            <a:srgbClr val="F0F4FF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6327648" y="2761488"/>
            <a:ext cx="502920" cy="50292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29768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PHAQM Queue Length — IEEE Topology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NS-3.45 output: queue vs time (50ms backbone, 5/20/50ms access delays)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Hybrid MPC+PID+RLS on IEEE Topology — Results (Minimized Delays)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IEEE Topology: 45 Mbps  |  50ms backbone  |  Access: 5ms/20ms/50ms  |  200 flows  |  5 independent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MPC — IEEE Topology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00200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1600200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600200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0934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160934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499 pkts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07208" y="16093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Target=500 ✅ Near perfect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4592" y="1956816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1956816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956816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96596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1965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16.3 ± 1.9 pkts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7208" y="19659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12.3× better than PHAQM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" y="2313432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7632" y="2313432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0632" y="2313432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3225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Latency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3225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141.48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07208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G.114 Class 1 ≤150ms 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267004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7632" y="2670048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70632" y="2670048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67919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Min / Max Latency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4208" y="267919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60 / 265.13 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07208" y="2679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Tighter range 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026664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27632" y="3026664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3026664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30358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4208" y="303580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261.22 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07208" y="303580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Well under 400ms 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3383280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0632" y="3383280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3392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64208" y="3392424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1.938%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07208" y="339242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Y.1541 Class 3 ≤3% ✅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3739896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3739896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70632" y="3739896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374904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74904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17.037%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07208" y="374904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Much less than PHAQM ✅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4592" y="409651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27632" y="4096512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70632" y="4096512"/>
            <a:ext cx="12527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410565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64208" y="410565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112.93 Mbps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07208" y="410565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4.74 Mbps more than PHAQM ✅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592" y="4453128"/>
            <a:ext cx="146304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27632" y="4453128"/>
            <a:ext cx="1143000" cy="329184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4453128"/>
            <a:ext cx="12527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446227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Avg per-flow tput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664208" y="446227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0.297 Mbps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07208" y="446227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Higher than PHAQM ✅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37160" y="4663440"/>
            <a:ext cx="39319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PASSES ITU-T G.114 Class 1 (141ms ≤ 150ms) AND Y.1541 Class 3 (1.938% ≤ 3%)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06240" y="1170432"/>
            <a:ext cx="4754880" cy="3877056"/>
          </a:xfrm>
          <a:prstGeom prst="rect">
            <a:avLst/>
          </a:prstGeom>
          <a:solidFill>
            <a:srgbClr val="F0F4FF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6327648" y="2761488"/>
            <a:ext cx="502920" cy="50292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2764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29768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Hybrid MPC Queue Length — IEEE Topology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9768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NS-3.45 output: queue stabilizes at 500 pkts (50ms backbone, minimized delays)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COMPARISON — IEEE Topology vs ITU-T Standards (Paper Results)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These are the official paper results — IEEE 802.3/802.1 compliant topology  |  50ms backbone (ITU-T G.114)  |  5 independent runs each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269748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430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143000"/>
            <a:ext cx="1965960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1430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PHAQM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2240280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MPC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143000"/>
            <a:ext cx="1874520" cy="40233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43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ITU-T Limit / Standard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7160" y="1591056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16002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Mean Queue (5 runs)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591056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16002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695 pkts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159105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16002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499 pkts 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159105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16002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Target = 500 pkts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1883664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892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Queue RMSE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80360" y="1883664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6936" y="18928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200±264 pkts 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8366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18928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16.3±1.9 pkts 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78040" y="188366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189280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Minimize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2176272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" y="2185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RMSE Improvement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80360" y="2176272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8541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176272"/>
            <a:ext cx="2240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18541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12.3× better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176272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2185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7160" y="2468880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" y="2478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Avg Latency (delay)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2468880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16936" y="2478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174.35 ms 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468880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47802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141.48 ms 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468880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247802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≤ 150ms (G.114 Cl.1)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7160" y="2761488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" y="2770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80360" y="2761488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16936" y="27706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353.64 ms ⚠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2761488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28616" y="27706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261.22 ms 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2761488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14616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≤ 400ms (G.114 Cl.2)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054096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Avg Packet Loss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880360" y="3054096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16936" y="30632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3.544% 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92040" y="305409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8616" y="30632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1.938% 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040" y="305409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14616" y="3063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≤ 3% (Y.1541 Cl.3)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7160" y="3346704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736" y="3355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Max Packet Loss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880360" y="3346704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16936" y="3355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27.465%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92040" y="334670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28616" y="33558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17.037% ✅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78040" y="334670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14616" y="3355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Lower = better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37160" y="3639312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" y="36484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Total Throughput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880360" y="3639312"/>
            <a:ext cx="1965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16936" y="36484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108.19 Mbps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92040" y="3639312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28616" y="36484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112.93 Mbps 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178040" y="3639312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14616" y="3648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Maximize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37160" y="3931920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394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Link Utilization (pcap)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880360" y="3931920"/>
            <a:ext cx="19659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16936" y="39410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97.8%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92040" y="3931920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28616" y="39410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97.8% ✅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178040" y="3931920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14616" y="39410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Maximize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7160" y="4224528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3736" y="42336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Flows analyzed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880360" y="4224528"/>
            <a:ext cx="196596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16936" y="423367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380/380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892040" y="4224528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28616" y="42336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380/380 ✅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178040" y="4224528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14616" y="42336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All flows served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" y="4517136"/>
            <a:ext cx="2697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3736" y="45262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G.114 Class 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880360" y="4517136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916936" y="452628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892040" y="4517136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28616" y="45262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178040" y="4517136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14616" y="45262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Avg delay ≤ 150ms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37160" y="4809744"/>
            <a:ext cx="269748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3736" y="4818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ITU-T Y.1541 Class 3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880360" y="4809744"/>
            <a:ext cx="19659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16936" y="48188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❌ FAILS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892040" y="4809744"/>
            <a:ext cx="22402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28616" y="481888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✅ PASSES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178040" y="4809744"/>
            <a:ext cx="1874520" cy="274320"/>
          </a:xfrm>
          <a:prstGeom prst="rect">
            <a:avLst/>
          </a:prstGeom>
          <a:solidFill>
            <a:srgbClr val="FA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14616" y="481888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1D95"/>
                </a:solidFill>
              </a:rPr>
              <a:t>Loss ≤ 3%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CONCLUSION — Why Hybrid MPC+PID+RLS is Better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38912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0467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12.3× Better Queue Regulation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33502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RMSE 16.3±1.9 vs 200±264 pkts — 139× more consistent across 5 independent runs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222199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221992"/>
            <a:ext cx="438912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22199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" y="2331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ITU-T G.114 Class 1 Compliant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75234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Avg latency 141ms ≤ 150ms — PHAQM fails at 174ms under the same IEEE topology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363931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639312"/>
            <a:ext cx="43891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63931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32" y="374904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ITU-T Y.1541 Class 3 Compliant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416966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Packet loss 1.938% ≤ 3% — PHAQM fails at 3.544% even with minimized delays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04672"/>
            <a:ext cx="43891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85232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Works on Heterogeneous Traffic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133502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200 mixed TCP+UDP flows, 3 RTT tiers — PHAQM collapses due to Hebbian weight freezing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21992"/>
            <a:ext cx="438912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2199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85232" y="23317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Self-Tuning via RLS Online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275234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offline parameter optimization needed — adapts in real time unlike FOTID (6-param SOA) or PHAQM (17 Hebbian weights)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4343400" cy="1298448"/>
          </a:xfrm>
          <a:prstGeom prst="rect">
            <a:avLst/>
          </a:prstGeom>
          <a:solidFill>
            <a:srgbClr val="0A254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39312"/>
            <a:ext cx="438912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39312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85232" y="374904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First ITU-T Validated AQM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85232" y="4169664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Only controller in this study class to simultaneously pass G.114 latency AND Y.1541 loss standards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5029200"/>
            <a:ext cx="8869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5029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 Step: Write full IEEE conference paper  |  All results validated  |  NS-3.45 simulation complete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0" y="4846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AQM Research — Guide Review</dc:title>
  <dc:subject>PptxGenJS Presentation</dc:subject>
  <dc:creator>PptxGenJS</dc:creator>
  <cp:lastModifiedBy>PptxGenJS</cp:lastModifiedBy>
  <cp:revision>1</cp:revision>
  <dcterms:created xsi:type="dcterms:W3CDTF">2026-03-11T05:03:19Z</dcterms:created>
  <dcterms:modified xsi:type="dcterms:W3CDTF">2026-03-11T05:03:19Z</dcterms:modified>
</cp:coreProperties>
</file>